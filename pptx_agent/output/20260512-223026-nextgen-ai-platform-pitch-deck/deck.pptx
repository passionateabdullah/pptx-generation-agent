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01  INVESTOR PITCH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NextGen AI Platform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Revolutionizing enterprise decision-making with scalable intelligence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Research-backed pitch narrative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HTML preview first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PPTX export on demand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569200" y="1854200"/>
            <a:ext cx="2540000" cy="2540000"/>
          </a:xfrm>
          <a:prstGeom prst="ellipse">
            <a:avLst/>
          </a:prstGeom>
          <a:solidFill>
            <a:srgbClr val="E9F4F3"/>
          </a:solidFill>
          <a:ln>
            <a:solidFill>
              <a:srgbClr val="C8DDDA"/>
            </a:solidFill>
          </a:ln>
        </p:spPr>
      </p:sp>
      <p:sp>
        <p:nvSpPr>
          <p:cNvPr id="9" name="Shape 9"/>
          <p:cNvSpPr/>
          <p:nvPr/>
        </p:nvSpPr>
        <p:spPr>
          <a:xfrm>
            <a:off x="8585200" y="2870200"/>
            <a:ext cx="508000" cy="5080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264400" y="2286000"/>
            <a:ext cx="533400" cy="53340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804400" y="2184400"/>
            <a:ext cx="533400" cy="53340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7747000" y="3886200"/>
            <a:ext cx="533400" cy="53340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9550400" y="3835400"/>
            <a:ext cx="533400" cy="53340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5" name="MetricValue 15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15 slides</a:t>
            </a:r>
            <a:endParaRPr lang="en-US" sz="1350"/>
          </a:p>
        </p:txBody>
      </p:sp>
      <p:sp>
        <p:nvSpPr>
          <p:cNvPr id="16" name="MetricLabel 16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Deck</a:t>
            </a:r>
            <a:endParaRPr lang="en-US" sz="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02  PROBLEM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Enterprise Decisions Are Slowed By Fragmented Data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Teams have more information than ever, but less confidence in what to do next.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Critical knowledge is split across documents, apps, tickets, calls, and dashboards.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Manual analysis creates slow cycles, inconsistent answers, and expensive handoffs.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Generic AI tools lack business context, controls, and repeatable workflow ownership.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48500" y="1727200"/>
            <a:ext cx="3505200" cy="24384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9" name="SignalTitle 9"/>
          <p:cNvSpPr txBox="1"/>
          <p:nvPr/>
        </p:nvSpPr>
        <p:spPr>
          <a:xfrm>
            <a:off x="7289800" y="20066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FFFFFF"/>
                </a:solidFill>
                <a:latin typeface="Aptos"/>
              </a:rPr>
              <a:t>Verified narrative</a:t>
            </a:r>
            <a:endParaRPr lang="en-US" sz="1250"/>
          </a:p>
        </p:txBody>
      </p:sp>
      <p:sp>
        <p:nvSpPr>
          <p:cNvPr id="10" name="Signal 10"/>
          <p:cNvSpPr txBox="1"/>
          <p:nvPr/>
        </p:nvSpPr>
        <p:spPr>
          <a:xfrm>
            <a:off x="7289800" y="2590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Source-aware plan</a:t>
            </a:r>
            <a:endParaRPr lang="en-US" sz="1050"/>
          </a:p>
        </p:txBody>
      </p:sp>
      <p:sp>
        <p:nvSpPr>
          <p:cNvPr id="11" name="Signal 11"/>
          <p:cNvSpPr txBox="1"/>
          <p:nvPr/>
        </p:nvSpPr>
        <p:spPr>
          <a:xfrm>
            <a:off x="7289800" y="3098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Slide preview</a:t>
            </a:r>
            <a:endParaRPr lang="en-US" sz="1050"/>
          </a:p>
        </p:txBody>
      </p:sp>
      <p:sp>
        <p:nvSpPr>
          <p:cNvPr id="12" name="Signal 12"/>
          <p:cNvSpPr txBox="1"/>
          <p:nvPr/>
        </p:nvSpPr>
        <p:spPr>
          <a:xfrm>
            <a:off x="7289800" y="3606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Export-ready PPTX</a:t>
            </a:r>
            <a:endParaRPr lang="en-US" sz="1050"/>
          </a:p>
        </p:txBody>
      </p:sp>
      <p:sp>
        <p:nvSpPr>
          <p:cNvPr id="13" name="Shape 13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4" name="MetricValue 14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&lt;20%</a:t>
            </a:r>
            <a:endParaRPr lang="en-US" sz="1350"/>
          </a:p>
        </p:txBody>
      </p:sp>
      <p:sp>
        <p:nvSpPr>
          <p:cNvPr id="15" name="MetricLabel 15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Utilized data</a:t>
            </a:r>
            <a:endParaRPr lang="en-US" sz="650"/>
          </a:p>
        </p:txBody>
      </p:sp>
      <p:sp>
        <p:nvSpPr>
          <p:cNvPr id="16" name="Shape 16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High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Manual effort</a:t>
            </a:r>
            <a:endParaRPr lang="en-US" sz="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03  WHY NOW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The Timing Has Shifted From AI Experiments To AI Operations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Enterprise AI claims are stronger when tied to measurable accuracy, latency, security, deployment, and cost improvements.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LLMs are strong enough for knowledge work, but enterprise adoption needs orchestration.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Companies are moving from isolated copilots to governed, auditable AI workflows.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Infrastructure cost pressure makes routing, caching, and retrieval quality strategic.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Buyer priority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Blocker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ROI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Buyer priority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Trust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Blocker</a:t>
            </a:r>
            <a:endParaRPr lang="en-US" sz="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04  SOLUTION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NextGen AI Platform Turns Company Knowledge Into Action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A secure AI platform that connects data, reasons over context, and delivers workflow-ready outputs.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Connects to existing data sources and normalizes them into a governed knowledge layer.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Routes tasks across retrieval, agents, tools, and models based on risk and complexity.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Produces cited answers, automations, dashboards, and presentation-ready deliverables.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Days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Setup</a:t>
            </a:r>
            <a:endParaRPr lang="en-US" sz="650"/>
          </a:p>
        </p:txBody>
      </p:sp>
      <p:sp>
        <p:nvSpPr>
          <p:cNvPr id="22" name="Shape 22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3" name="MetricValue 23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Multi-format</a:t>
            </a:r>
            <a:endParaRPr lang="en-US" sz="1350"/>
          </a:p>
        </p:txBody>
      </p:sp>
      <p:sp>
        <p:nvSpPr>
          <p:cNvPr id="24" name="MetricLabel 24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Outputs</a:t>
            </a:r>
            <a:endParaRPr lang="en-US" sz="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05  PRODUCT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A Modular Platform Built For Enterprise Workflows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Each layer can improve independently while keeping governance centralized.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Data connectors ingest documents, apps, databases, and collaboration history.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Retrieval and memory services keep answers grounded in approved company context.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Agent orchestration executes multi-step tasks with human review where needed.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Analytics show cost, quality, usage, risk, and business impact.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4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Layers</a:t>
            </a:r>
            <a:endParaRPr lang="en-US" sz="650"/>
          </a:p>
        </p:txBody>
      </p:sp>
      <p:sp>
        <p:nvSpPr>
          <p:cNvPr id="22" name="Shape 22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3" name="MetricValue 23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Central</a:t>
            </a:r>
            <a:endParaRPr lang="en-US" sz="1350"/>
          </a:p>
        </p:txBody>
      </p:sp>
      <p:sp>
        <p:nvSpPr>
          <p:cNvPr id="24" name="MetricLabel 24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Control</a:t>
            </a:r>
            <a:endParaRPr lang="en-US" sz="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06  HOW IT WORKS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From Prompt To Verified Output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workflow mirrors the Manus-style process: research, plan, render, then export.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Research: collect market, customer, and competitive context.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Plan: turn findings into a slide-by-slide narrative.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Generate: produce HTML slides for fast visual review.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Export: convert the approved structure into a PowerPoint file.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4 steps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Workflow</a:t>
            </a:r>
            <a:endParaRPr lang="en-US" sz="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07  MARKET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Large Market, Clear Beachhead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Start with high-value enterprise knowledge workflows, then expand across functions.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TAM: broad enterprise AI software and automation spend.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SAM: mid-market and enterprise teams with complex knowledge operations.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SOM: regulated teams where security, auditability, and accuracy drive willingness to pay.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TAM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Beachhead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$150B+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TAM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Ops + Analytics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Beachhead</a:t>
            </a:r>
            <a:endParaRPr lang="en-US" sz="6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08  USE CASES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High-Frequency Workflows Create Expansion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platform starts with urgent jobs and grows into the operating layer for decisions.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Executive briefings and board materials generated from live company context.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Sales and support copilots that answer with policy-aware knowledge.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Research, diligence, and market monitoring workflows for strategy teams.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Compliance review and evidence packaging for regulated operations.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4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Initial wedges</a:t>
            </a:r>
            <a:endParaRPr lang="en-US" sz="6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09  DIFFERENTIATION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More Than A Generic LLM Wrapper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moat is workflow ownership, proprietary context, quality feedback, and governance.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Context graph maps business entities, permissions, workflows, and decision history.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Model routing balances quality, latency, privacy, and cost per task.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Evaluation loops turn usage and human review into compounding quality improvements.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6908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9" name="Matrix 9"/>
          <p:cNvSpPr txBox="1"/>
          <p:nvPr/>
        </p:nvSpPr>
        <p:spPr>
          <a:xfrm>
            <a:off x="7061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Context</a:t>
            </a:r>
            <a:endParaRPr lang="en-US" sz="1050"/>
          </a:p>
        </p:txBody>
      </p:sp>
      <p:sp>
        <p:nvSpPr>
          <p:cNvPr id="10" name="Shape 10"/>
          <p:cNvSpPr/>
          <p:nvPr/>
        </p:nvSpPr>
        <p:spPr>
          <a:xfrm>
            <a:off x="8686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1" name="Matrix 11"/>
          <p:cNvSpPr txBox="1"/>
          <p:nvPr/>
        </p:nvSpPr>
        <p:spPr>
          <a:xfrm>
            <a:off x="8839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Quality</a:t>
            </a:r>
            <a:endParaRPr lang="en-US" sz="1050"/>
          </a:p>
        </p:txBody>
      </p:sp>
      <p:sp>
        <p:nvSpPr>
          <p:cNvPr id="12" name="Shape 12"/>
          <p:cNvSpPr/>
          <p:nvPr/>
        </p:nvSpPr>
        <p:spPr>
          <a:xfrm>
            <a:off x="6908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3" name="Matrix 13"/>
          <p:cNvSpPr txBox="1"/>
          <p:nvPr/>
        </p:nvSpPr>
        <p:spPr>
          <a:xfrm>
            <a:off x="7061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Governance</a:t>
            </a:r>
            <a:endParaRPr lang="en-US" sz="1050"/>
          </a:p>
        </p:txBody>
      </p:sp>
      <p:sp>
        <p:nvSpPr>
          <p:cNvPr id="14" name="Shape 14"/>
          <p:cNvSpPr/>
          <p:nvPr/>
        </p:nvSpPr>
        <p:spPr>
          <a:xfrm>
            <a:off x="8686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5" name="Matrix 15"/>
          <p:cNvSpPr txBox="1"/>
          <p:nvPr/>
        </p:nvSpPr>
        <p:spPr>
          <a:xfrm>
            <a:off x="8839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Scale</a:t>
            </a:r>
            <a:endParaRPr lang="en-US" sz="105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+20%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Accuracy lift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30-40%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TCO reduction</a:t>
            </a:r>
            <a:endParaRPr lang="en-US" sz="6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10  BUSINESS MODEL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Subscription Revenue With Usage Expansion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Pricing aligns with seats, workflows, data volume, and premium automation.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Team tier for departmental pilots and proof-of-value work.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Enterprise tier for security controls, integrations, admin, and analytics.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Usage-based add-ons for high-volume agents, retrieval, and generation.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Services accelerate onboarding without becoming the core revenue engine.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Gross margin target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Expansion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75%+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Gross margin target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Usage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Expansion</a:t>
            </a:r>
            <a:endParaRPr lang="en-US" sz="6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11  TRACTION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Early Signals Show Pull From Enterprise Teams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Use real company data here when available; these placeholders show the target evidence type.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Pilot customers use the platform weekly for research, reporting, and decision support.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Time-to-output improves as reusable workflows and knowledge bases compound.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Pipeline is concentrated in teams with measurable pain and budget ownership.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Pilot target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ARR target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15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Pilot target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$500K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ARR target</a:t>
            </a:r>
            <a:endParaRPr lang="en-US" sz="6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12  ROADMAP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Focused Roadmap To Scale Quality And Distribution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next phase deepens integrations, governance, and repeatable vertical workflows.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Quarter 1: self-serve workspace setup, core connectors, and evaluation dashboards.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Quarter 2: workflow templates for finance, healthcare, legal, and operations teams.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Quarter 3: admin controls, marketplace connectors, and partner implementation kits.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48500" y="1727200"/>
            <a:ext cx="3505200" cy="24384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9" name="SignalTitle 9"/>
          <p:cNvSpPr txBox="1"/>
          <p:nvPr/>
        </p:nvSpPr>
        <p:spPr>
          <a:xfrm>
            <a:off x="7289800" y="20066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FFFFFF"/>
                </a:solidFill>
                <a:latin typeface="Aptos"/>
              </a:rPr>
              <a:t>Verified narrative</a:t>
            </a:r>
            <a:endParaRPr lang="en-US" sz="1250"/>
          </a:p>
        </p:txBody>
      </p:sp>
      <p:sp>
        <p:nvSpPr>
          <p:cNvPr id="10" name="Signal 10"/>
          <p:cNvSpPr txBox="1"/>
          <p:nvPr/>
        </p:nvSpPr>
        <p:spPr>
          <a:xfrm>
            <a:off x="7289800" y="2590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Source-aware plan</a:t>
            </a:r>
            <a:endParaRPr lang="en-US" sz="1050"/>
          </a:p>
        </p:txBody>
      </p:sp>
      <p:sp>
        <p:nvSpPr>
          <p:cNvPr id="11" name="Signal 11"/>
          <p:cNvSpPr txBox="1"/>
          <p:nvPr/>
        </p:nvSpPr>
        <p:spPr>
          <a:xfrm>
            <a:off x="7289800" y="3098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Slide preview</a:t>
            </a:r>
            <a:endParaRPr lang="en-US" sz="1050"/>
          </a:p>
        </p:txBody>
      </p:sp>
      <p:sp>
        <p:nvSpPr>
          <p:cNvPr id="12" name="Signal 12"/>
          <p:cNvSpPr txBox="1"/>
          <p:nvPr/>
        </p:nvSpPr>
        <p:spPr>
          <a:xfrm>
            <a:off x="7289800" y="3606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Export-ready PPTX</a:t>
            </a:r>
            <a:endParaRPr lang="en-US" sz="1050"/>
          </a:p>
        </p:txBody>
      </p:sp>
      <p:sp>
        <p:nvSpPr>
          <p:cNvPr id="13" name="Shape 13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4" name="MetricValue 14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12 months</a:t>
            </a:r>
            <a:endParaRPr lang="en-US" sz="1350"/>
          </a:p>
        </p:txBody>
      </p:sp>
      <p:sp>
        <p:nvSpPr>
          <p:cNvPr id="15" name="MetricLabel 15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Horizon</a:t>
            </a:r>
            <a:endParaRPr lang="en-US" sz="6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13  TEAM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Built By AI, Infrastructure, And Enterprise Operators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right team combines model expertise with the patience to solve enterprise deployment.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CEO: AI product leader with enterprise workflow experience.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CTO: retrieval, platform, and distributed systems background.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GTM Lead: sold data and automation platforms into regulated teams.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Advisors: security, vertical workflow, and AI evaluation experts.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6908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9" name="Matrix 9"/>
          <p:cNvSpPr txBox="1"/>
          <p:nvPr/>
        </p:nvSpPr>
        <p:spPr>
          <a:xfrm>
            <a:off x="7061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Context</a:t>
            </a:r>
            <a:endParaRPr lang="en-US" sz="1050"/>
          </a:p>
        </p:txBody>
      </p:sp>
      <p:sp>
        <p:nvSpPr>
          <p:cNvPr id="10" name="Shape 10"/>
          <p:cNvSpPr/>
          <p:nvPr/>
        </p:nvSpPr>
        <p:spPr>
          <a:xfrm>
            <a:off x="8686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1" name="Matrix 11"/>
          <p:cNvSpPr txBox="1"/>
          <p:nvPr/>
        </p:nvSpPr>
        <p:spPr>
          <a:xfrm>
            <a:off x="8839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Quality</a:t>
            </a:r>
            <a:endParaRPr lang="en-US" sz="1050"/>
          </a:p>
        </p:txBody>
      </p:sp>
      <p:sp>
        <p:nvSpPr>
          <p:cNvPr id="12" name="Shape 12"/>
          <p:cNvSpPr/>
          <p:nvPr/>
        </p:nvSpPr>
        <p:spPr>
          <a:xfrm>
            <a:off x="6908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3" name="Matrix 13"/>
          <p:cNvSpPr txBox="1"/>
          <p:nvPr/>
        </p:nvSpPr>
        <p:spPr>
          <a:xfrm>
            <a:off x="7061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Governance</a:t>
            </a:r>
            <a:endParaRPr lang="en-US" sz="1050"/>
          </a:p>
        </p:txBody>
      </p:sp>
      <p:sp>
        <p:nvSpPr>
          <p:cNvPr id="14" name="Shape 14"/>
          <p:cNvSpPr/>
          <p:nvPr/>
        </p:nvSpPr>
        <p:spPr>
          <a:xfrm>
            <a:off x="8686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5" name="Matrix 15"/>
          <p:cNvSpPr txBox="1"/>
          <p:nvPr/>
        </p:nvSpPr>
        <p:spPr>
          <a:xfrm>
            <a:off x="8839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Scale</a:t>
            </a:r>
            <a:endParaRPr lang="en-US" sz="105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AI + GTM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Core functions</a:t>
            </a:r>
            <a:endParaRPr lang="en-US" sz="6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14  THE ASK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Seeking Seed Capital To Turn Pull Into Repeatable Growth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Funding accelerates product maturity, enterprise readiness, and go-to-market learning.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40% product and engineering: workflow builder, evaluation, integrations.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35% sales and marketing: founder-led sales, vertical playbooks, partner channel.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25% infrastructure and security: scale, observability, compliance readiness.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Raise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Runway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$5M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Raise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18 months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Runway</a:t>
            </a:r>
            <a:endParaRPr lang="en-US" sz="6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15  CLOSE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The Operating Layer For AI-Driven Enterprises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Join us in turning scattered company knowledge into secure, measurable execution.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Next step: pilot the highest-value workflow with one enterprise team.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Contact: founders@example.com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Website: nextgen-ai.example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48500" y="1727200"/>
            <a:ext cx="3505200" cy="24384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9" name="SignalTitle 9"/>
          <p:cNvSpPr txBox="1"/>
          <p:nvPr/>
        </p:nvSpPr>
        <p:spPr>
          <a:xfrm>
            <a:off x="7289800" y="20066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FFFFFF"/>
                </a:solidFill>
                <a:latin typeface="Aptos"/>
              </a:rPr>
              <a:t>Verified narrative</a:t>
            </a:r>
            <a:endParaRPr lang="en-US" sz="1250"/>
          </a:p>
        </p:txBody>
      </p:sp>
      <p:sp>
        <p:nvSpPr>
          <p:cNvPr id="10" name="Signal 10"/>
          <p:cNvSpPr txBox="1"/>
          <p:nvPr/>
        </p:nvSpPr>
        <p:spPr>
          <a:xfrm>
            <a:off x="7289800" y="2590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Source-aware plan</a:t>
            </a:r>
            <a:endParaRPr lang="en-US" sz="1050"/>
          </a:p>
        </p:txBody>
      </p:sp>
      <p:sp>
        <p:nvSpPr>
          <p:cNvPr id="11" name="Signal 11"/>
          <p:cNvSpPr txBox="1"/>
          <p:nvPr/>
        </p:nvSpPr>
        <p:spPr>
          <a:xfrm>
            <a:off x="7289800" y="3098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Slide preview</a:t>
            </a:r>
            <a:endParaRPr lang="en-US" sz="1050"/>
          </a:p>
        </p:txBody>
      </p:sp>
      <p:sp>
        <p:nvSpPr>
          <p:cNvPr id="12" name="Signal 12"/>
          <p:cNvSpPr txBox="1"/>
          <p:nvPr/>
        </p:nvSpPr>
        <p:spPr>
          <a:xfrm>
            <a:off x="7289800" y="3606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Export-ready PPTX</a:t>
            </a:r>
            <a:endParaRPr lang="en-US" sz="1050"/>
          </a:p>
        </p:txBody>
      </p:sp>
      <p:sp>
        <p:nvSpPr>
          <p:cNvPr id="13" name="Shape 13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4" name="MetricValue 14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Pilot</a:t>
            </a:r>
            <a:endParaRPr lang="en-US" sz="1350"/>
          </a:p>
        </p:txBody>
      </p:sp>
      <p:sp>
        <p:nvSpPr>
          <p:cNvPr id="15" name="MetricLabel 15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Next step</a:t>
            </a:r>
            <a:endParaRPr lang="en-US" sz="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us Agent Theme">
  <a:themeElements>
    <a:clrScheme name="Agent">
      <a:dk1>
        <a:srgbClr val="17202A"/>
      </a:dk1>
      <a:lt1>
        <a:srgbClr val="FFFFFF"/>
      </a:lt1>
      <a:dk2>
        <a:srgbClr val="2F3B46"/>
      </a:dk2>
      <a:lt2>
        <a:srgbClr val="F3F6F8"/>
      </a:lt2>
      <a:accent1>
        <a:srgbClr val="087C7C"/>
      </a:accent1>
      <a:accent2>
        <a:srgbClr val="D98F1F"/>
      </a:accent2>
      <a:accent3>
        <a:srgbClr val="C95746"/>
      </a:accent3>
      <a:accent4>
        <a:srgbClr val="6F7B85"/>
      </a:accent4>
      <a:accent5>
        <a:srgbClr val="53606D"/>
      </a:accent5>
      <a:accent6>
        <a:srgbClr val="E9F4F3"/>
      </a:accent6>
      <a:hlink>
        <a:srgbClr val="087C7C"/>
      </a:hlink>
      <a:folHlink>
        <a:srgbClr val="6F7B8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Manus-Style PPTX Agent</Application>
  <PresentationFormat>On-screen Show (16:9)</PresentationFormat>
  <Slides>15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AI Platform Pitch Deck</dc:title>
  <dc:creator>Manus-Style PPTX Agent</dc:creator>
  <cp:lastModifiedBy>Manus-Style PPTX Agent</cp:lastModifiedBy>
  <dcterms:created xsi:type="dcterms:W3CDTF">2026-05-12T16:30:44+00:00</dcterms:created>
  <dcterms:modified xsi:type="dcterms:W3CDTF">2026-05-12T16:30:44+00:00</dcterms:modified>
</cp:coreProperties>
</file>